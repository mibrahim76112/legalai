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88" r:id="rId7"/>
    <p:sldId id="284" r:id="rId8"/>
    <p:sldId id="262" r:id="rId9"/>
    <p:sldId id="263" r:id="rId10"/>
    <p:sldId id="264" r:id="rId11"/>
    <p:sldId id="265" r:id="rId12"/>
    <p:sldId id="289" r:id="rId13"/>
    <p:sldId id="267" r:id="rId14"/>
    <p:sldId id="278" r:id="rId15"/>
    <p:sldId id="268" r:id="rId16"/>
    <p:sldId id="269" r:id="rId17"/>
    <p:sldId id="279" r:id="rId18"/>
    <p:sldId id="271" r:id="rId19"/>
    <p:sldId id="280" r:id="rId20"/>
    <p:sldId id="286" r:id="rId21"/>
    <p:sldId id="287" r:id="rId22"/>
    <p:sldId id="272" r:id="rId23"/>
    <p:sldId id="273" r:id="rId24"/>
    <p:sldId id="285" r:id="rId25"/>
    <p:sldId id="281" r:id="rId26"/>
    <p:sldId id="283" r:id="rId27"/>
    <p:sldId id="290" r:id="rId28"/>
    <p:sldId id="291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3"/>
    <p:restoredTop sz="96064"/>
  </p:normalViewPr>
  <p:slideViewPr>
    <p:cSldViewPr snapToGrid="0" snapToObjects="1">
      <p:cViewPr varScale="1">
        <p:scale>
          <a:sx n="119" d="100"/>
          <a:sy n="119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873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Discuss about 3.1h, survey etc not just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are increasingly using AI to automate repetitive tasks.</a:t>
            </a:r>
            <a:endParaRPr lang="en-US" sz="12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Canada’s Department of Justice plans AI-assisted legal research and automated document processing in 2026–27.</a:t>
            </a:r>
            <a:endParaRPr lang="en-US" sz="12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generative AI market for legal contract drafting and review is $4.21B in 2026, projected to reach $14.76B by 2031.</a:t>
            </a:r>
            <a:endParaRPr lang="en-US" sz="120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an opportunity to automate the first pass of contract review.</a:t>
            </a:r>
            <a:endParaRPr lang="en-US" sz="120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41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2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433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678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Llama 3.1-8B achieved the highest ContractNLI dev performance among the four models evaluated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111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336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4,900 token avg input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6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94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7184F-7BD3-A6D6-99B2-66DF7951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408FE-A488-5B46-89C6-7F434122A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DD4A9-0DFC-3816-8CA3-B30925F49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B185D-F3D8-A223-A3E5-5A39C4AB1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471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012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EF74F-86EF-C1B0-482B-549ABB90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AE180-C9E0-B2E4-351D-621A93141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2E4E9-87C1-579F-E6CB-BA76F4E96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4E4A0-CDB7-2DDB-1930-D7180C3A3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797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04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49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52906"/>
            <a:ext cx="10515600" cy="1487739"/>
          </a:xfrm>
          <a:prstGeom prst="roundRect">
            <a:avLst>
              <a:gd name="adj" fmla="val 5714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112520" y="1417320"/>
            <a:ext cx="9966960" cy="581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Contract Review Assistant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Ibrahim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Electrical </a:t>
            </a:r>
            <a:r>
              <a:rPr lang="en-US" sz="16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Computer Engineering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Manitoba, Winnipeg, Canada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</a:t>
            </a:r>
            <a:r>
              <a:rPr lang="en-US" sz="16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ProCogia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D9F6496-11B4-E29A-47E4-81029315C762}"/>
              </a:ext>
            </a:extLst>
          </p:cNvPr>
          <p:cNvSpPr txBox="1"/>
          <p:nvPr/>
        </p:nvSpPr>
        <p:spPr>
          <a:xfrm>
            <a:off x="3883047" y="2017199"/>
            <a:ext cx="4787988" cy="581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sz="1600">
                <a:solidFill>
                  <a:schemeClr val="bg1"/>
                </a:solidFill>
              </a:rPr>
              <a:t>Building and Evaluating a Fine-Tuned Legal AI System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EB9A85B-14D2-20DB-7D37-B1DCC218F15B}"/>
              </a:ext>
            </a:extLst>
          </p:cNvPr>
          <p:cNvSpPr txBox="1"/>
          <p:nvPr/>
        </p:nvSpPr>
        <p:spPr>
          <a:xfrm>
            <a:off x="5386722" y="6231925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80160" y="1691640"/>
            <a:ext cx="475488" cy="475488"/>
          </a:xfrm>
          <a:prstGeom prst="ellipse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280160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6916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80160" y="2331720"/>
            <a:ext cx="475488" cy="475488"/>
          </a:xfrm>
          <a:prstGeom prst="ellipse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28016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3317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280160" y="2971800"/>
            <a:ext cx="475488" cy="475488"/>
          </a:xfrm>
          <a:prstGeom prst="ellipse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9818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80160" y="3611880"/>
            <a:ext cx="475488" cy="475488"/>
          </a:xfrm>
          <a:prstGeom prst="ellipse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28016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611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Selection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80160" y="4251960"/>
            <a:ext cx="475488" cy="475488"/>
          </a:xfrm>
          <a:prstGeom prst="ellipse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280160" y="4251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42519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B2A3A"/>
                </a:solidFill>
                <a:latin typeface="Calibri" pitchFamily="34" charset="0"/>
                <a:cs typeface="Calibri" pitchFamily="34" charset="-120"/>
              </a:rPr>
              <a:t>SFT Methodology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80160" y="4892040"/>
            <a:ext cx="475488" cy="475488"/>
          </a:xfrm>
          <a:prstGeom prst="ellipse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280160" y="4892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48920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280160" y="5532120"/>
            <a:ext cx="475488" cy="475488"/>
          </a:xfrm>
          <a:prstGeom prst="ellipse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280160" y="5532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55321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&amp; Next Steps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 is a time-consuming, manual process.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contract, reviewers often need to: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Find provisions that matter to the business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Check whether the contract meets company requirements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Identify clauses that may require closer attention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727448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57032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46888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C9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2004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4251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727448" y="246888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001768" y="28803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001768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Provisions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001768" y="365760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001768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01768" y="44348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001768" y="4434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Risks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8257032" y="246888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C9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3200400"/>
            <a:ext cx="822960" cy="8229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257032" y="4251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4041648" y="3977640"/>
            <a:ext cx="576072" cy="0"/>
          </a:xfrm>
          <a:prstGeom prst="line">
            <a:avLst/>
          </a:prstGeom>
          <a:noFill/>
          <a:ln w="38100">
            <a:solidFill>
              <a:srgbClr val="B8862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580376" y="3977640"/>
            <a:ext cx="566928" cy="0"/>
          </a:xfrm>
          <a:prstGeom prst="line">
            <a:avLst/>
          </a:prstGeom>
          <a:noFill/>
          <a:ln w="38100">
            <a:solidFill>
              <a:srgbClr val="B8862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US" sz="2000">
                <a:solidFill>
                  <a:srgbClr val="1B2A3A"/>
                </a:solidFill>
                <a:latin typeface="Calibri" pitchFamily="34" charset="0"/>
                <a:cs typeface="Calibri" pitchFamily="34" charset="-120"/>
              </a:rPr>
              <a:t>I</a:t>
            </a:r>
            <a:r>
              <a:rPr lang="en-CA" sz="2000"/>
              <a:t>n-house legal teams spend an average of 3.1 hours reviewing a contract</a:t>
            </a:r>
          </a:p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CA" sz="2000"/>
              <a:t>79% report reduced time on routine legal tasks with AI </a:t>
            </a:r>
          </a:p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CA" sz="2000"/>
              <a:t>52% of in-house legal teams are already using or evaluating AI for contract review </a:t>
            </a:r>
          </a:p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CA" sz="2000"/>
              <a:t>Legal teams need AI that works with their own playbooks, requirements, and approval workflows </a:t>
            </a:r>
          </a:p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CA" sz="2000"/>
              <a:t>The estimated AI contract drafting and review market is $4.21B in 2026, projected to reach $14.76B by 2031.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Examples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Compliance check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Receiving Party may share information with consultants, agents and advisors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984248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057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</a:t>
            </a:r>
            <a:r>
              <a:rPr lang="en-US" sz="1150" b="1" dirty="0">
                <a:solidFill>
                  <a:srgbClr val="1B2A3A"/>
                </a:solidFill>
                <a:highlight>
                  <a:srgbClr val="FFF1C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Dealer shall not distribute, disseminate, publish or disclose the Confidential Information to any person or entity not employed or retained by Dealer.</a:t>
            </a:r>
            <a:r>
              <a:rPr lang="en-US" sz="115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Dealer shall limit access to those employees with a need to know …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20840" y="2377440"/>
            <a:ext cx="411480" cy="0"/>
          </a:xfrm>
          <a:prstGeom prst="line">
            <a:avLst/>
          </a:prstGeom>
          <a:noFill/>
          <a:ln w="31750">
            <a:solidFill>
              <a:srgbClr val="B8862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0" y="173736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43800" y="1874520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B5473A"/>
          </a:solidFill>
          <a:ln w="12700">
            <a:solidFill>
              <a:srgbClr val="B54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54380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22219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the conflicting sentence as evidence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044952"/>
            <a:ext cx="10607040" cy="0"/>
          </a:xfrm>
          <a:prstGeom prst="line">
            <a:avLst/>
          </a:prstGeom>
          <a:noFill/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3099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Clause identification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3741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type: Anti-Assignment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666744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3739896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The parties agree to the terms set out herein. </a:t>
            </a:r>
            <a:r>
              <a:rPr lang="en-US" sz="1150" b="1" dirty="0">
                <a:solidFill>
                  <a:srgbClr val="1B2A3A"/>
                </a:solidFill>
                <a:highlight>
                  <a:srgbClr val="FFF1C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This Agreement or any rights or obligations granted hereunder may not be assigned by ABW without the prior written consent of PCQ.</a:t>
            </a:r>
            <a:r>
              <a:rPr lang="en-US" sz="115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Notices shall be sent …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4059936"/>
            <a:ext cx="411480" cy="0"/>
          </a:xfrm>
          <a:prstGeom prst="line">
            <a:avLst/>
          </a:prstGeom>
          <a:noFill/>
          <a:ln w="31750">
            <a:solidFill>
              <a:srgbClr val="B8862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0" y="3419856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43800" y="3557016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1E7A4D"/>
          </a:solidFill>
          <a:ln w="12700">
            <a:solidFill>
              <a:srgbClr val="1E7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543800" y="3557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39044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the clause and returns the exact sentence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4727448"/>
            <a:ext cx="10607040" cy="0"/>
          </a:xfrm>
          <a:prstGeom prst="line">
            <a:avLst/>
          </a:prstGeom>
          <a:noFill/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7240" y="4782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Risk note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0566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Clause: Insurance obligations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534924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14400" y="542239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</a:t>
            </a:r>
            <a:r>
              <a:rPr lang="en-US" sz="1150" b="1" dirty="0">
                <a:solidFill>
                  <a:srgbClr val="1B2A3A"/>
                </a:solidFill>
                <a:highlight>
                  <a:srgbClr val="FFF1C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shall provide and maintain insurance covering liability and property damage for the work, naming EDGE and Mediacom as additional insureds.</a:t>
            </a:r>
            <a:r>
              <a:rPr lang="en-US" sz="115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Coverage shall begin on the commencement date …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20840" y="5742432"/>
            <a:ext cx="411480" cy="0"/>
          </a:xfrm>
          <a:prstGeom prst="line">
            <a:avLst/>
          </a:prstGeom>
          <a:noFill/>
          <a:ln w="31750">
            <a:solidFill>
              <a:srgbClr val="B8862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0" y="5102352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543800" y="5239512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543800" y="5239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note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558698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“Requires you to carry liability and property damage cover and to name EDGE and Mediacom as additional insureds, effective when the work begins.”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513640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Selection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ContractNLI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0939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with contract requirements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4963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 contracts  ·  evidence-grounded decisions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54480" y="3063240"/>
            <a:ext cx="9784080" cy="0"/>
          </a:xfrm>
          <a:prstGeom prst="line">
            <a:avLst/>
          </a:prstGeom>
          <a:noFill/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3741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clause identification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776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contracts, 41 clause types  ·  18 substantive categories selected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54480" y="4343400"/>
            <a:ext cx="9784080" cy="0"/>
          </a:xfrm>
          <a:prstGeom prst="line">
            <a:avLst/>
          </a:prstGeom>
          <a:noFill/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617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Notes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465429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of </a:t>
            </a:r>
            <a:r>
              <a:rPr lang="en-US" sz="17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clauses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50566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CUAD </a:t>
            </a:r>
            <a:r>
              <a:rPr lang="en-US" sz="160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expert-labeled spans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93455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Quality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CA" sz="2000"/>
              <a:t>Used contract-level splits to make training and evaluation set reliable</a:t>
            </a:r>
          </a:p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CA" sz="2000"/>
              <a:t>Compared contracts across splits using MinHash and Jaccard similarity to detect near-duplicates</a:t>
            </a:r>
          </a:p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CA" sz="2000"/>
              <a:t>Verified that ground truth evidence spans match the original contract text </a:t>
            </a:r>
          </a:p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CA" sz="2000"/>
              <a:t>Generated risk notes from CUAD expert-labeled spans and applied grounding and quality checks </a:t>
            </a:r>
          </a:p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CA" sz="2000"/>
              <a:t>Used windowing for long contracts to keep inference within the model’s context and GPU memory limits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ContractNLI is limited </a:t>
            </a:r>
            <a:r>
              <a:rPr lang="en-US" sz="20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NDA contracts.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 was limited to 18 selected clause </a:t>
            </a:r>
            <a:r>
              <a:rPr lang="en-US" sz="20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categories.</a:t>
            </a:r>
            <a:endParaRPr lang="en-US" sz="2000" dirty="0">
              <a:solidFill>
                <a:srgbClr val="1B2A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CA" sz="2000"/>
              <a:t>Risk notes are synthetically generated rather than lawyer-annotated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</a:t>
            </a: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may not fully reflect real-world company contracts </a:t>
            </a:r>
            <a:r>
              <a:rPr lang="en-US" sz="20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requirements or review workflows.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</a:t>
            </a: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15600" cy="2505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size limit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&amp; efficiency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following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2A3A"/>
                </a:solidFill>
                <a:latin typeface="Calibri" pitchFamily="34" charset="0"/>
                <a:cs typeface="Calibri" pitchFamily="34" charset="-120"/>
              </a:rPr>
              <a:t>Reasoning Capability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 &amp; suitable license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Models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92024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C9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05840" y="2121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542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C9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892040" y="2121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542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549640" y="192024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C9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778240" y="2121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542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5661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C9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005840" y="37673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Nano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187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63440" y="35661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C9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892040" y="37673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4187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549640" y="356616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C9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778240" y="37673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4187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14B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Training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4996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ContractNLI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801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verdict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36008" y="141732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636008" y="14996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1801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identification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48472" y="141732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348472" y="14996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Notes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1801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2148840"/>
            <a:ext cx="0" cy="365760"/>
          </a:xfrm>
          <a:prstGeom prst="line">
            <a:avLst/>
          </a:prstGeom>
          <a:noFill/>
          <a:ln w="25400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99048" y="2148840"/>
            <a:ext cx="0" cy="365760"/>
          </a:xfrm>
          <a:prstGeom prst="line">
            <a:avLst/>
          </a:prstGeom>
          <a:noFill/>
          <a:ln w="25400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811512" y="2148840"/>
            <a:ext cx="0" cy="365760"/>
          </a:xfrm>
          <a:prstGeom prst="line">
            <a:avLst/>
          </a:prstGeom>
          <a:noFill/>
          <a:ln w="25400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77440" y="2514600"/>
            <a:ext cx="7434072" cy="0"/>
          </a:xfrm>
          <a:prstGeom prst="line">
            <a:avLst/>
          </a:prstGeom>
          <a:noFill/>
          <a:ln w="25400">
            <a:solidFill>
              <a:srgbClr val="B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99048" y="2514600"/>
            <a:ext cx="0" cy="320040"/>
          </a:xfrm>
          <a:prstGeom prst="line">
            <a:avLst/>
          </a:prstGeom>
          <a:noFill/>
          <a:ln w="31750">
            <a:solidFill>
              <a:srgbClr val="B8862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91840" y="2880360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 w="12700">
            <a:solidFill>
              <a:srgbClr val="C9C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291840" y="28803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instruction → response format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9048" y="3429000"/>
            <a:ext cx="0" cy="365760"/>
          </a:xfrm>
          <a:prstGeom prst="line">
            <a:avLst/>
          </a:prstGeom>
          <a:noFill/>
          <a:ln w="31750">
            <a:solidFill>
              <a:srgbClr val="B8862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91840" y="3840480"/>
            <a:ext cx="5577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74720" y="40233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8EBEE"/>
          </a:solidFill>
          <a:ln w="12700">
            <a:solidFill>
              <a:srgbClr val="E8EB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474720" y="4160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LLM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4988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Weights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402336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400800" y="40233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11667A"/>
          </a:solidFill>
          <a:ln w="12700">
            <a:solidFill>
              <a:srgbClr val="116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0080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LoRA adapter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498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D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parameters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99048" y="5166360"/>
            <a:ext cx="0" cy="365760"/>
          </a:xfrm>
          <a:prstGeom prst="line">
            <a:avLst/>
          </a:prstGeom>
          <a:noFill/>
          <a:ln w="31750">
            <a:solidFill>
              <a:srgbClr val="B8862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91840" y="5577840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291840" y="557784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74159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039332"/>
              </p:ext>
            </p:extLst>
          </p:nvPr>
        </p:nvGraphicFramePr>
        <p:xfrm>
          <a:off x="822960" y="1600200"/>
          <a:ext cx="10424160" cy="41148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B67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16</a:t>
                      </a:r>
                      <a:r>
                        <a:rPr lang="en-US" sz="1500">
                          <a:solidFill>
                            <a:srgbClr val="5B67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α/r = 2</a:t>
                      </a:r>
                      <a:r>
                        <a:rPr lang="en-US" sz="1500" dirty="0">
                          <a:solidFill>
                            <a:srgbClr val="5B67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dropout = 0.05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B67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B67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B67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latin typeface="Calibri" charset="0"/>
                          <a:ea typeface="Calibri" charset="0"/>
                          <a:cs typeface="Calibri" charset="0"/>
                        </a:rPr>
                        <a:t>Mini Batch size</a:t>
                      </a:r>
                      <a:endParaRPr lang="en-US" sz="16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392155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batch size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B67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B67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checkpointing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B67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sequence length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B67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ContractNLI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103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Macro-F1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606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F1, Span Recall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3795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64087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64087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Macro-F1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14379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414379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F1, Span Recall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74262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Notes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524554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524554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74846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574846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and qualitative review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067007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ContractNLI</a:t>
            </a:r>
            <a:r>
              <a:rPr lang="en-US" sz="34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Classification </a:t>
            </a: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586998"/>
              </p:ext>
            </p:extLst>
          </p:nvPr>
        </p:nvGraphicFramePr>
        <p:xfrm>
          <a:off x="822960" y="1508760"/>
          <a:ext cx="10424160" cy="2057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Qwen3-4B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Qwen3-8B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3.1-8B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84.7%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83.4%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86.5%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Qwen3-14B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" y="3703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PER-LABEL F1</a:t>
            </a:r>
            <a:endParaRPr lang="en-US" sz="15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176352"/>
              </p:ext>
            </p:extLst>
          </p:nvPr>
        </p:nvGraphicFramePr>
        <p:xfrm>
          <a:off x="822960" y="4069080"/>
          <a:ext cx="10424160" cy="12344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Entailment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NotMentioned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Qwen3-4B</a:t>
                      </a:r>
                      <a:endParaRPr lang="en-US" sz="15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3.1-8B</a:t>
                      </a:r>
                      <a:endParaRPr lang="en-US" sz="15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ContractNLI: Evidence Results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747248"/>
              </p:ext>
            </p:extLst>
          </p:nvPr>
        </p:nvGraphicFramePr>
        <p:xfrm>
          <a:off x="822960" y="1508760"/>
          <a:ext cx="10424160" cy="2057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Qwen3-4B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72.3%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Qwen3-8B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3.1-8B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Qwen3-14B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82.5%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86.4%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83.8%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CUAD: </a:t>
            </a:r>
            <a:r>
              <a:rPr lang="en-US" sz="34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Classification </a:t>
            </a: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912146"/>
              </p:ext>
            </p:extLst>
          </p:nvPr>
        </p:nvGraphicFramePr>
        <p:xfrm>
          <a:off x="822960" y="1554480"/>
          <a:ext cx="10424160" cy="2057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Qwen3-4B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84.1%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Qwen3-8B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3.1-8B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86.3%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89.1%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Qwen3-14B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90710"/>
              </p:ext>
            </p:extLst>
          </p:nvPr>
        </p:nvGraphicFramePr>
        <p:xfrm>
          <a:off x="822960" y="4251960"/>
          <a:ext cx="10424160" cy="2057400"/>
        </p:xfrm>
        <a:graphic>
          <a:graphicData uri="http://schemas.openxmlformats.org/drawingml/2006/table">
            <a:tbl>
              <a:tblPr/>
              <a:tblGrid>
                <a:gridCol w="4322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0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Qwen3-4B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Qwen3-8B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3.1-8B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80.8%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Qwen3-14B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91.5%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271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CUAD: Evidence Results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914037"/>
              </p:ext>
            </p:extLst>
          </p:nvPr>
        </p:nvGraphicFramePr>
        <p:xfrm>
          <a:off x="822960" y="1473795"/>
          <a:ext cx="10424160" cy="2057400"/>
        </p:xfrm>
        <a:graphic>
          <a:graphicData uri="http://schemas.openxmlformats.org/drawingml/2006/table">
            <a:tbl>
              <a:tblPr/>
              <a:tblGrid>
                <a:gridCol w="4322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0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Qwen3-4B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Qwen3-8B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42.8%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3.1-8B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60.3%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44.7%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Qwen3-14B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59.0%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8251209A-9BDB-935E-DDBE-E61AE7566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461235"/>
              </p:ext>
            </p:extLst>
          </p:nvPr>
        </p:nvGraphicFramePr>
        <p:xfrm>
          <a:off x="3783111" y="4143487"/>
          <a:ext cx="7373185" cy="2057400"/>
        </p:xfrm>
        <a:graphic>
          <a:graphicData uri="http://schemas.openxmlformats.org/drawingml/2006/table">
            <a:tbl>
              <a:tblPr/>
              <a:tblGrid>
                <a:gridCol w="4322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0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Qwen3-4B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Qwen3-8B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3.1-8B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Qwen3-14B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A9A06DA3-36E7-9999-127F-87AB71D997B6}"/>
              </a:ext>
            </a:extLst>
          </p:cNvPr>
          <p:cNvSpPr txBox="1"/>
          <p:nvPr/>
        </p:nvSpPr>
        <p:spPr>
          <a:xfrm>
            <a:off x="1030325" y="4760707"/>
            <a:ext cx="16728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Notes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2A3A"/>
                </a:solidFill>
                <a:latin typeface="Calibri" pitchFamily="34" charset="0"/>
                <a:cs typeface="Calibri" pitchFamily="34" charset="-120"/>
              </a:rPr>
              <a:t>Baseline Comparison (F1 score)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6617"/>
              </p:ext>
            </p:extLst>
          </p:nvPr>
        </p:nvGraphicFramePr>
        <p:xfrm>
          <a:off x="822960" y="1828800"/>
          <a:ext cx="10424160" cy="2468880"/>
        </p:xfrm>
        <a:graphic>
          <a:graphicData uri="http://schemas.openxmlformats.org/drawingml/2006/table">
            <a:tbl>
              <a:tblPr/>
              <a:tblGrid>
                <a:gridCol w="4169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Task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Qwen3-4B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Qwen3-8B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3.1-8B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ContractNLI (Classification)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+19.1%</a:t>
                      </a:r>
                      <a:endParaRPr lang="en-US" sz="17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+17.2%</a:t>
                      </a:r>
                      <a:endParaRPr lang="en-US" sz="17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+26.7%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ContractNLI (Evidence)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+34.9%</a:t>
                      </a:r>
                      <a:endParaRPr lang="en-US" sz="17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+41.0%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+34.8%</a:t>
                      </a:r>
                      <a:endParaRPr lang="en-US" sz="17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CUAD (Classification)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+20.3%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+16.9%</a:t>
                      </a:r>
                      <a:endParaRPr lang="en-US" sz="17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+18.0%</a:t>
                      </a:r>
                      <a:endParaRPr lang="en-US" sz="17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CUAD (Evidence)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+20.0%</a:t>
                      </a:r>
                      <a:endParaRPr lang="en-US" sz="17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+17.8%</a:t>
                      </a:r>
                      <a:endParaRPr lang="en-US" sz="17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+24.8%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</a:t>
                      </a: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(Generation)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+13.7%</a:t>
                      </a:r>
                      <a:endParaRPr lang="en-US" sz="17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+17.1%</a:t>
                      </a:r>
                      <a:endParaRPr lang="en-US" sz="17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+19.5%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873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offs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060396"/>
              </p:ext>
            </p:extLst>
          </p:nvPr>
        </p:nvGraphicFramePr>
        <p:xfrm>
          <a:off x="1413973" y="1737360"/>
          <a:ext cx="8778240" cy="2057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VRAM (GB)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 (h)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Qwen3-4B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 s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 ms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3.49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Qwen3-8B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 s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 ms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4.43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3.1-8B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 s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 ms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Qwen3-14B</a:t>
                      </a:r>
                      <a:endParaRPr lang="en-US" sz="15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 s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 ms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6.58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891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r>
              <a:rPr lang="en-US" sz="34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(F1 Score)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208028"/>
              </p:ext>
            </p:extLst>
          </p:nvPr>
        </p:nvGraphicFramePr>
        <p:xfrm>
          <a:off x="822960" y="1737360"/>
          <a:ext cx="10424160" cy="2468880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ContractNLI (Classification)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ContractNLI (Evidence)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CUAD (Classification)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CUAD (Evidence)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60.3%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</a:t>
                      </a: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(Generation - ROUGE- L)</a:t>
                      </a:r>
                      <a:endParaRPr lang="en-US" sz="17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42.4%</a:t>
                      </a:r>
                      <a:endParaRPr lang="en-US" sz="15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53700" y="4480560"/>
            <a:ext cx="1362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Llama3.1-8b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79584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Limitations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80760" y="1600200"/>
            <a:ext cx="0" cy="4023360"/>
          </a:xfrm>
          <a:prstGeom prst="line">
            <a:avLst/>
          </a:prstGeom>
          <a:noFill/>
          <a:ln w="12700">
            <a:solidFill>
              <a:srgbClr val="D5DA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WORKS WELL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One shared adapter supports multiple review capabilities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SFT adds substantial task-specific capability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Strong compliance classification on NDA contracts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Hallucinations are decreased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DOES NOT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2103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Evidence recovery remains the main weakness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Long contracts require multiple model calls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Training data is still narrow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Risk-note quality has not been validated by lawyers</a:t>
            </a:r>
            <a:br>
              <a:rPr lang="en-CA" sz="1600"/>
            </a:b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69164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33272" y="18745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data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2377440"/>
            <a:ext cx="28712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NDAs to broader commercial contracts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lawyer label a gold set for risk notes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CA" sz="1600"/>
              <a:t>Expand CUAD coverage to additional clause categories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69164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850779" y="1874520"/>
            <a:ext cx="30179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better document handling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19472" y="2377440"/>
            <a:ext cx="28712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CA" sz="1600"/>
              <a:t>Evaluate knowledge graphs for retrieval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CA" sz="1600"/>
              <a:t>Test longer-context models and improved windowing strategies</a:t>
            </a:r>
          </a:p>
        </p:txBody>
      </p:sp>
      <p:sp>
        <p:nvSpPr>
          <p:cNvPr id="9" name="Shape 7"/>
          <p:cNvSpPr/>
          <p:nvPr/>
        </p:nvSpPr>
        <p:spPr>
          <a:xfrm>
            <a:off x="8549640" y="169164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805672" y="18745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production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805672" y="2377440"/>
            <a:ext cx="28712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Tx/>
              <a:buChar char="•"/>
            </a:pPr>
            <a:r>
              <a:rPr lang="en-CA" sz="1600"/>
              <a:t>Containerize the application and inference service with Docker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•"/>
            </a:pPr>
            <a:r>
              <a:rPr lang="en-CA" sz="1600"/>
              <a:t>Deploy the model on a dedicated GPU server 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•"/>
            </a:pPr>
            <a:r>
              <a:rPr lang="en-CA" sz="1600"/>
              <a:t>Add persistent storage for contracts, reviews, findings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•"/>
            </a:pPr>
            <a:r>
              <a:rPr lang="en-CA" sz="1600"/>
              <a:t>Measure end-to-end latency and cost per contract </a:t>
            </a:r>
          </a:p>
          <a:p>
            <a:pPr marL="342900" indent="-342900">
              <a:spcAft>
                <a:spcPts val="1200"/>
              </a:spcAft>
              <a:buSzPct val="100000"/>
              <a:buFontTx/>
              <a:buChar char="•"/>
            </a:pPr>
            <a:r>
              <a:rPr lang="en-CA" sz="1600"/>
              <a:t>Add monitoring and logging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5AF0D3-25F2-22ED-DA6C-E0A76A33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10A46F-9398-4789-9A7B-DAFBE75B3884}"/>
              </a:ext>
            </a:extLst>
          </p:cNvPr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3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31BB1B-6310-2718-EA85-A897E297DC6A}"/>
              </a:ext>
            </a:extLst>
          </p:cNvPr>
          <p:cNvSpPr txBox="1"/>
          <p:nvPr/>
        </p:nvSpPr>
        <p:spPr>
          <a:xfrm>
            <a:off x="868680" y="21031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GPU selection is not just about VRAM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Windowing solves coverage, not latency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More data isn't automatically better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Bigger context isn't automatically better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CA" sz="1600"/>
              <a:t>Long contracts are the real serving bottleneck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CA" sz="16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CA" sz="16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62754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377018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30438-114A-169B-65B2-5CA43C628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87CDD4-FB6D-1A8D-F98A-8941DEA3E000}"/>
              </a:ext>
            </a:extLst>
          </p:cNvPr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590839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Prompts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</a:t>
            </a:r>
            <a:r>
              <a:rPr lang="en-US" sz="16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ContractNLI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5303520" cy="2148840"/>
          </a:xfrm>
          <a:prstGeom prst="roundRect">
            <a:avLst>
              <a:gd name="adj" fmla="val 2553"/>
            </a:avLst>
          </a:prstGeom>
          <a:solidFill>
            <a:srgbClr val="F4F6F8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130552"/>
            <a:ext cx="502920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You are a junior legal assistant reviewing a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contract. Given the CONTRACT and the QUESTION,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determine whether the contract supports the stated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position (Entailment), conflicts with it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(Contradiction), or does not address it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(NotMentioned). Return the exact sentence(s) from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the contract that justify your answer, or an empty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alibri" panose="020F0502020204030204" pitchFamily="34" charset="0"/>
                <a:ea typeface="Courier New" pitchFamily="34" charset="-122"/>
                <a:cs typeface="Calibri" panose="020F0502020204030204" pitchFamily="34" charset="0"/>
              </a:rPr>
              <a:t>evidence list if none apply. Respond with JSON only.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4192857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4467177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540329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CONTRACT: {text}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{question}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034105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5308425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5381577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{"verdict": "...", "evidence": [...]}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</a:t>
            </a:r>
            <a:r>
              <a:rPr lang="en-US" sz="16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CUAD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17830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057400"/>
            <a:ext cx="4892040" cy="2148840"/>
          </a:xfrm>
          <a:prstGeom prst="roundRect">
            <a:avLst>
              <a:gd name="adj" fmla="val 2553"/>
            </a:avLst>
          </a:prstGeom>
          <a:solidFill>
            <a:srgbClr val="F4F6F8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629400" y="2130552"/>
            <a:ext cx="461772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contract review assistant. Given the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and a CLAUSE CATEGORY, determine whether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contract contains a clause of that category.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it does, return the exact sentence(s) from the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that constitute it; if it does not,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an empty evidence list. Respond with JSON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22631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450063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629400" y="4573782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CONTRACT: {text}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CLAUSE CATEGORY: {category}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06755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5341878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629400" y="5415030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{"present": true|false, "evidence": [...]}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24429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8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</a:t>
            </a:r>
            <a:r>
              <a:rPr lang="en-US" sz="3000" b="1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Prompts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— synthetic data generation  (Qwen3-32B, from CUAD expert-labeled clauses)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5303520" cy="2788920"/>
          </a:xfrm>
          <a:prstGeom prst="roundRect">
            <a:avLst>
              <a:gd name="adj" fmla="val 1967"/>
            </a:avLst>
          </a:prstGeom>
          <a:solidFill>
            <a:srgbClr val="F4F6F8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267712"/>
            <a:ext cx="5029200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contract review assistant. A business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 with no legal training is about to sign 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and has been shown one clause from it.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EXACTLY ONE sentence, tell that reader two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things: what the clause does to them in practice,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what event or condition brings it into effect.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Vary your phrasing between notes; do not fall into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fixed formula. Do NOT begin with the words "This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clause". Do not recommend legal action. Do not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 negotiating, amending, or consulting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counsel. Do not state any fact that is not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supported by the clause text itself.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95894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5233266"/>
            <a:ext cx="530352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530641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CLAUSE CATEGORY: {category}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CLAUSE: {clause}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— training &amp; inference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9202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2194560"/>
            <a:ext cx="4892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629400" y="2267712"/>
            <a:ext cx="4617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contract review assistant. Given 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clause and its category, write EXACTLY ONE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 for a business reader explaining what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clause does in practice and what brings 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effect.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598497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3872817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E3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629400" y="3945969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CLAUSE CATEGORY: {category}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CLAUSE: {clause}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421457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prompt is deliberately short: the style constraints live in the training data, not in the prompt.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25944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9701</TotalTime>
  <Words>1808</Words>
  <Application>Microsoft Macintosh PowerPoint</Application>
  <PresentationFormat>Widescreen</PresentationFormat>
  <Paragraphs>496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Ibrahim</cp:lastModifiedBy>
  <cp:revision>63</cp:revision>
  <dcterms:created xsi:type="dcterms:W3CDTF">2026-09-22T03:35:38Z</dcterms:created>
  <dcterms:modified xsi:type="dcterms:W3CDTF">2026-09-28T21:22:19Z</dcterms:modified>
</cp:coreProperties>
</file>